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Raleway"/>
      <p:regular r:id="rId20"/>
      <p:bold r:id="rId21"/>
      <p:italic r:id="rId22"/>
      <p:boldItalic r:id="rId23"/>
    </p:embeddedFont>
    <p:embeddedFont>
      <p:font typeface="La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Henry Bojanowsk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Lato-regular.fntdata"/><Relationship Id="rId23" Type="http://schemas.openxmlformats.org/officeDocument/2006/relationships/font" Target="fonts/Raleway-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Lato-italic.fntdata"/><Relationship Id="rId25" Type="http://schemas.openxmlformats.org/officeDocument/2006/relationships/font" Target="fonts/Lato-bold.fntdata"/><Relationship Id="rId27" Type="http://schemas.openxmlformats.org/officeDocument/2006/relationships/font" Target="fonts/La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1-03-09T17:33:12.342">
    <p:pos x="6000" y="0"/>
    <p:text>I think it makes sense to put the calculation stuff next to the fbd</p:text>
  </p:cm>
  <p:cm authorId="0" idx="2" dt="2021-03-09T17:33:12.342">
    <p:pos x="6000" y="0"/>
    <p:text>I can speak here too if necessary</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c5e9a97beb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c5e9a97beb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c5e9a97be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c5e9a97be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c690d7a7e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c690d7a7e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c5e9a97beb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c5e9a97be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c690d7a7e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c690d7a7e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c5eddf61c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c5eddf61c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c5eddf61c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c5eddf61c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c5e9a97e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c5e9a97e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c5e9a97be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c5e9a97be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c5e9a97beb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c5e9a97beb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c690d7a7e5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c690d7a7e5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c690d7a7e5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c690d7a7e5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1.xml"/><Relationship Id="rId4" Type="http://schemas.openxmlformats.org/officeDocument/2006/relationships/image" Target="../media/image3.png"/><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Power Drone Flight Simulation</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Jaden Cho, Henry Bojanowski, Stephanie Pellicane, Christopher Lemus, Brendan Slabe</a:t>
            </a:r>
            <a:endParaRPr/>
          </a:p>
        </p:txBody>
      </p:sp>
      <p:sp>
        <p:nvSpPr>
          <p:cNvPr id="88" name="Google Shape;88;p13"/>
          <p:cNvSpPr txBox="1"/>
          <p:nvPr/>
        </p:nvSpPr>
        <p:spPr>
          <a:xfrm>
            <a:off x="660700" y="4348975"/>
            <a:ext cx="6983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Image credit: Brian Maccleery of FlyJus</a:t>
            </a:r>
            <a:r>
              <a:rPr baseline="30000" lang="en" sz="1000">
                <a:latin typeface="Lato"/>
                <a:ea typeface="Lato"/>
                <a:cs typeface="Lato"/>
                <a:sym typeface="Lato"/>
              </a:rPr>
              <a:t>TM</a:t>
            </a:r>
            <a:endParaRPr baseline="30000" sz="1000">
              <a:latin typeface="Lato"/>
              <a:ea typeface="Lato"/>
              <a:cs typeface="Lato"/>
              <a:sym typeface="Lato"/>
            </a:endParaRPr>
          </a:p>
        </p:txBody>
      </p:sp>
      <p:sp>
        <p:nvSpPr>
          <p:cNvPr id="89" name="Google Shape;89;p1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Intro</a:t>
            </a:r>
            <a:endParaRPr/>
          </a:p>
        </p:txBody>
      </p:sp>
      <p:sp>
        <p:nvSpPr>
          <p:cNvPr id="95" name="Google Shape;95;p14"/>
          <p:cNvSpPr txBox="1"/>
          <p:nvPr>
            <p:ph idx="1" type="body"/>
          </p:nvPr>
        </p:nvSpPr>
        <p:spPr>
          <a:xfrm>
            <a:off x="729450" y="2078875"/>
            <a:ext cx="3602700" cy="229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Create a software program that will run alongside the X-Plane simulation which will calculate the power </a:t>
            </a:r>
            <a:r>
              <a:rPr lang="en"/>
              <a:t>generated</a:t>
            </a:r>
            <a:r>
              <a:rPr lang="en"/>
              <a:t> by a tethered drone during a given flight path in any weather conditions.</a:t>
            </a:r>
            <a:endParaRPr/>
          </a:p>
          <a:p>
            <a:pPr indent="0" lvl="0" marL="0" rtl="0" algn="l">
              <a:spcBef>
                <a:spcPts val="1200"/>
              </a:spcBef>
              <a:spcAft>
                <a:spcPts val="1200"/>
              </a:spcAft>
              <a:buNone/>
            </a:pPr>
            <a:r>
              <a:rPr lang="en"/>
              <a:t>The program will have real-time graphical data that depicts the current power generation </a:t>
            </a:r>
            <a:r>
              <a:rPr lang="en"/>
              <a:t>while</a:t>
            </a:r>
            <a:r>
              <a:rPr lang="en"/>
              <a:t> the simulation is in progress. </a:t>
            </a:r>
            <a:endParaRPr/>
          </a:p>
        </p:txBody>
      </p:sp>
      <p:pic>
        <p:nvPicPr>
          <p:cNvPr id="96" name="Google Shape;96;p14"/>
          <p:cNvPicPr preferRelativeResize="0"/>
          <p:nvPr/>
        </p:nvPicPr>
        <p:blipFill>
          <a:blip r:embed="rId3">
            <a:alphaModFix/>
          </a:blip>
          <a:stretch>
            <a:fillRect/>
          </a:stretch>
        </p:blipFill>
        <p:spPr>
          <a:xfrm>
            <a:off x="5754050" y="974075"/>
            <a:ext cx="2818475" cy="3666925"/>
          </a:xfrm>
          <a:prstGeom prst="rect">
            <a:avLst/>
          </a:prstGeom>
          <a:noFill/>
          <a:ln>
            <a:noFill/>
          </a:ln>
        </p:spPr>
      </p:pic>
      <p:sp>
        <p:nvSpPr>
          <p:cNvPr id="97" name="Google Shape;97;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Completed Work</a:t>
            </a:r>
            <a:endParaRPr/>
          </a:p>
        </p:txBody>
      </p:sp>
      <p:sp>
        <p:nvSpPr>
          <p:cNvPr id="103" name="Google Shape;103;p15"/>
          <p:cNvSpPr txBox="1"/>
          <p:nvPr>
            <p:ph idx="1" type="body"/>
          </p:nvPr>
        </p:nvSpPr>
        <p:spPr>
          <a:xfrm>
            <a:off x="729450" y="2078875"/>
            <a:ext cx="48573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Minimum Viable Product</a:t>
            </a:r>
            <a:endParaRPr/>
          </a:p>
          <a:p>
            <a:pPr indent="-298450" lvl="1" marL="914400" rtl="0" algn="l">
              <a:spcBef>
                <a:spcPts val="0"/>
              </a:spcBef>
              <a:spcAft>
                <a:spcPts val="0"/>
              </a:spcAft>
              <a:buSzPts val="1100"/>
              <a:buChar char="○"/>
            </a:pPr>
            <a:r>
              <a:rPr lang="en"/>
              <a:t>Extracting data from X-Plane via Ardupilot/Mission Planner</a:t>
            </a:r>
            <a:endParaRPr/>
          </a:p>
          <a:p>
            <a:pPr indent="-298450" lvl="1" marL="914400" rtl="0" algn="l">
              <a:spcBef>
                <a:spcPts val="0"/>
              </a:spcBef>
              <a:spcAft>
                <a:spcPts val="0"/>
              </a:spcAft>
              <a:buSzPts val="1100"/>
              <a:buChar char="○"/>
            </a:pPr>
            <a:r>
              <a:rPr lang="en"/>
              <a:t>Extracting data from X-Plane via Node.js</a:t>
            </a:r>
            <a:endParaRPr/>
          </a:p>
          <a:p>
            <a:pPr indent="-298450" lvl="1" marL="914400" rtl="0" algn="l">
              <a:spcBef>
                <a:spcPts val="0"/>
              </a:spcBef>
              <a:spcAft>
                <a:spcPts val="0"/>
              </a:spcAft>
              <a:buSzPts val="1100"/>
              <a:buChar char="○"/>
            </a:pPr>
            <a:r>
              <a:rPr lang="en"/>
              <a:t>Python script to read extracted data</a:t>
            </a:r>
            <a:endParaRPr/>
          </a:p>
          <a:p>
            <a:pPr indent="-298450" lvl="1" marL="914400" rtl="0" algn="l">
              <a:spcBef>
                <a:spcPts val="0"/>
              </a:spcBef>
              <a:spcAft>
                <a:spcPts val="0"/>
              </a:spcAft>
              <a:buSzPts val="1100"/>
              <a:buChar char="○"/>
            </a:pPr>
            <a:r>
              <a:rPr lang="en"/>
              <a:t>Python script to calculate necessary parameters from data</a:t>
            </a:r>
            <a:endParaRPr/>
          </a:p>
          <a:p>
            <a:pPr indent="-298450" lvl="1" marL="914400" rtl="0" algn="l">
              <a:spcBef>
                <a:spcPts val="0"/>
              </a:spcBef>
              <a:spcAft>
                <a:spcPts val="0"/>
              </a:spcAft>
              <a:buSzPts val="1100"/>
              <a:buChar char="○"/>
            </a:pPr>
            <a:r>
              <a:rPr lang="en"/>
              <a:t>Python script to create real-time graphic</a:t>
            </a:r>
            <a:endParaRPr/>
          </a:p>
          <a:p>
            <a:pPr indent="-298450" lvl="1" marL="914400" rtl="0" algn="l">
              <a:spcBef>
                <a:spcPts val="0"/>
              </a:spcBef>
              <a:spcAft>
                <a:spcPts val="0"/>
              </a:spcAft>
              <a:buSzPts val="1100"/>
              <a:buChar char="○"/>
            </a:pPr>
            <a:r>
              <a:rPr lang="en"/>
              <a:t>Estimations of the power generated by the tethered drone based on different flight paths, weather, etc. </a:t>
            </a:r>
            <a:endParaRPr/>
          </a:p>
        </p:txBody>
      </p:sp>
      <p:pic>
        <p:nvPicPr>
          <p:cNvPr id="104" name="Google Shape;104;p15"/>
          <p:cNvPicPr preferRelativeResize="0"/>
          <p:nvPr/>
        </p:nvPicPr>
        <p:blipFill>
          <a:blip r:embed="rId3">
            <a:alphaModFix/>
          </a:blip>
          <a:stretch>
            <a:fillRect/>
          </a:stretch>
        </p:blipFill>
        <p:spPr>
          <a:xfrm>
            <a:off x="6107150" y="1853850"/>
            <a:ext cx="2438400" cy="523875"/>
          </a:xfrm>
          <a:prstGeom prst="rect">
            <a:avLst/>
          </a:prstGeom>
          <a:noFill/>
          <a:ln>
            <a:noFill/>
          </a:ln>
        </p:spPr>
      </p:pic>
      <p:sp>
        <p:nvSpPr>
          <p:cNvPr id="105" name="Google Shape;105;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Flowchart</a:t>
            </a:r>
            <a:endParaRPr/>
          </a:p>
        </p:txBody>
      </p:sp>
      <p:pic>
        <p:nvPicPr>
          <p:cNvPr id="111" name="Google Shape;111;p16"/>
          <p:cNvPicPr preferRelativeResize="0"/>
          <p:nvPr/>
        </p:nvPicPr>
        <p:blipFill>
          <a:blip r:embed="rId3">
            <a:alphaModFix/>
          </a:blip>
          <a:stretch>
            <a:fillRect/>
          </a:stretch>
        </p:blipFill>
        <p:spPr>
          <a:xfrm>
            <a:off x="3036300" y="1080600"/>
            <a:ext cx="3905324" cy="3905324"/>
          </a:xfrm>
          <a:prstGeom prst="rect">
            <a:avLst/>
          </a:prstGeom>
          <a:noFill/>
          <a:ln>
            <a:noFill/>
          </a:ln>
        </p:spPr>
      </p:pic>
      <p:sp>
        <p:nvSpPr>
          <p:cNvPr id="112" name="Google Shape;112;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nvSpPr>
        <p:spPr>
          <a:xfrm>
            <a:off x="970175" y="568700"/>
            <a:ext cx="7435200" cy="754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300">
                <a:solidFill>
                  <a:schemeClr val="dk2"/>
                </a:solidFill>
                <a:latin typeface="Raleway"/>
                <a:ea typeface="Raleway"/>
                <a:cs typeface="Raleway"/>
                <a:sym typeface="Raleway"/>
              </a:rPr>
              <a:t>Progress: Forces</a:t>
            </a:r>
            <a:endParaRPr b="1" sz="2300">
              <a:solidFill>
                <a:schemeClr val="dk2"/>
              </a:solidFill>
              <a:latin typeface="Raleway"/>
              <a:ea typeface="Raleway"/>
              <a:cs typeface="Raleway"/>
              <a:sym typeface="Raleway"/>
            </a:endParaRPr>
          </a:p>
          <a:p>
            <a:pPr indent="0" lvl="0" marL="0" rtl="0" algn="l">
              <a:spcBef>
                <a:spcPts val="0"/>
              </a:spcBef>
              <a:spcAft>
                <a:spcPts val="0"/>
              </a:spcAft>
              <a:buNone/>
            </a:pPr>
            <a:r>
              <a:t/>
            </a:r>
            <a:endParaRPr>
              <a:latin typeface="Lato"/>
              <a:ea typeface="Lato"/>
              <a:cs typeface="Lato"/>
              <a:sym typeface="Lato"/>
            </a:endParaRPr>
          </a:p>
        </p:txBody>
      </p:sp>
      <p:pic>
        <p:nvPicPr>
          <p:cNvPr descr="Diagram&#10;&#10;Description automatically generated" id="118" name="Google Shape;118;p17"/>
          <p:cNvPicPr preferRelativeResize="0"/>
          <p:nvPr/>
        </p:nvPicPr>
        <p:blipFill>
          <a:blip r:embed="rId4">
            <a:alphaModFix/>
          </a:blip>
          <a:stretch>
            <a:fillRect/>
          </a:stretch>
        </p:blipFill>
        <p:spPr>
          <a:xfrm>
            <a:off x="4995450" y="1722875"/>
            <a:ext cx="3368100" cy="2864825"/>
          </a:xfrm>
          <a:prstGeom prst="rect">
            <a:avLst/>
          </a:prstGeom>
          <a:noFill/>
          <a:ln>
            <a:noFill/>
          </a:ln>
        </p:spPr>
      </p:pic>
      <p:pic>
        <p:nvPicPr>
          <p:cNvPr id="119" name="Google Shape;119;p17"/>
          <p:cNvPicPr preferRelativeResize="0"/>
          <p:nvPr/>
        </p:nvPicPr>
        <p:blipFill>
          <a:blip r:embed="rId5">
            <a:alphaModFix/>
          </a:blip>
          <a:stretch>
            <a:fillRect/>
          </a:stretch>
        </p:blipFill>
        <p:spPr>
          <a:xfrm>
            <a:off x="495300" y="1509025"/>
            <a:ext cx="3037802" cy="3515800"/>
          </a:xfrm>
          <a:prstGeom prst="rect">
            <a:avLst/>
          </a:prstGeom>
          <a:noFill/>
          <a:ln>
            <a:noFill/>
          </a:ln>
        </p:spPr>
      </p:pic>
      <p:sp>
        <p:nvSpPr>
          <p:cNvPr id="120" name="Google Shape;120;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txBox="1"/>
          <p:nvPr/>
        </p:nvSpPr>
        <p:spPr>
          <a:xfrm>
            <a:off x="970175" y="568700"/>
            <a:ext cx="7435200" cy="754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300">
                <a:solidFill>
                  <a:schemeClr val="dk2"/>
                </a:solidFill>
                <a:latin typeface="Raleway"/>
                <a:ea typeface="Raleway"/>
                <a:cs typeface="Raleway"/>
                <a:sym typeface="Raleway"/>
              </a:rPr>
              <a:t>Progress: Calculations</a:t>
            </a:r>
            <a:endParaRPr b="1" sz="2300">
              <a:solidFill>
                <a:schemeClr val="dk2"/>
              </a:solidFill>
              <a:latin typeface="Raleway"/>
              <a:ea typeface="Raleway"/>
              <a:cs typeface="Raleway"/>
              <a:sym typeface="Raleway"/>
            </a:endParaRPr>
          </a:p>
          <a:p>
            <a:pPr indent="0" lvl="0" marL="0" rtl="0" algn="l">
              <a:spcBef>
                <a:spcPts val="0"/>
              </a:spcBef>
              <a:spcAft>
                <a:spcPts val="0"/>
              </a:spcAft>
              <a:buNone/>
            </a:pPr>
            <a:r>
              <a:t/>
            </a:r>
            <a:endParaRPr>
              <a:latin typeface="Lato"/>
              <a:ea typeface="Lato"/>
              <a:cs typeface="Lato"/>
              <a:sym typeface="Lato"/>
            </a:endParaRPr>
          </a:p>
        </p:txBody>
      </p:sp>
      <p:pic>
        <p:nvPicPr>
          <p:cNvPr id="126" name="Google Shape;126;p18"/>
          <p:cNvPicPr preferRelativeResize="0"/>
          <p:nvPr/>
        </p:nvPicPr>
        <p:blipFill>
          <a:blip r:embed="rId3">
            <a:alphaModFix/>
          </a:blip>
          <a:stretch>
            <a:fillRect/>
          </a:stretch>
        </p:blipFill>
        <p:spPr>
          <a:xfrm>
            <a:off x="906588" y="1397050"/>
            <a:ext cx="7330819" cy="3515801"/>
          </a:xfrm>
          <a:prstGeom prst="rect">
            <a:avLst/>
          </a:prstGeom>
          <a:noFill/>
          <a:ln>
            <a:noFill/>
          </a:ln>
        </p:spPr>
      </p:pic>
      <p:sp>
        <p:nvSpPr>
          <p:cNvPr id="127" name="Google Shape;127;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9"/>
          <p:cNvSpPr txBox="1"/>
          <p:nvPr>
            <p:ph type="title"/>
          </p:nvPr>
        </p:nvSpPr>
        <p:spPr>
          <a:xfrm>
            <a:off x="666175" y="963450"/>
            <a:ext cx="7688700" cy="5352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a:t>Progress: Graphical</a:t>
            </a:r>
            <a:endParaRPr/>
          </a:p>
        </p:txBody>
      </p:sp>
      <p:pic>
        <p:nvPicPr>
          <p:cNvPr id="133" name="Google Shape;133;p19"/>
          <p:cNvPicPr preferRelativeResize="0"/>
          <p:nvPr/>
        </p:nvPicPr>
        <p:blipFill>
          <a:blip r:embed="rId3">
            <a:alphaModFix/>
          </a:blip>
          <a:stretch>
            <a:fillRect/>
          </a:stretch>
        </p:blipFill>
        <p:spPr>
          <a:xfrm>
            <a:off x="1685538" y="1439287"/>
            <a:ext cx="5649975" cy="3540275"/>
          </a:xfrm>
          <a:prstGeom prst="rect">
            <a:avLst/>
          </a:prstGeom>
          <a:noFill/>
          <a:ln>
            <a:noFill/>
          </a:ln>
        </p:spPr>
      </p:pic>
      <p:sp>
        <p:nvSpPr>
          <p:cNvPr id="134" name="Google Shape;134;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798425" y="796550"/>
            <a:ext cx="7688700" cy="5352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a:t>Progress: System All Together</a:t>
            </a:r>
            <a:endParaRPr/>
          </a:p>
        </p:txBody>
      </p:sp>
      <p:pic>
        <p:nvPicPr>
          <p:cNvPr id="140" name="Google Shape;140;p20"/>
          <p:cNvPicPr preferRelativeResize="0"/>
          <p:nvPr/>
        </p:nvPicPr>
        <p:blipFill>
          <a:blip r:embed="rId3">
            <a:alphaModFix/>
          </a:blip>
          <a:stretch>
            <a:fillRect/>
          </a:stretch>
        </p:blipFill>
        <p:spPr>
          <a:xfrm>
            <a:off x="1577187" y="1331738"/>
            <a:ext cx="5993225" cy="3755375"/>
          </a:xfrm>
          <a:prstGeom prst="rect">
            <a:avLst/>
          </a:prstGeom>
          <a:noFill/>
          <a:ln>
            <a:noFill/>
          </a:ln>
        </p:spPr>
      </p:pic>
      <p:sp>
        <p:nvSpPr>
          <p:cNvPr id="141" name="Google Shape;141;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More Specifics on Progress</a:t>
            </a:r>
            <a:endParaRPr/>
          </a:p>
        </p:txBody>
      </p:sp>
      <p:sp>
        <p:nvSpPr>
          <p:cNvPr id="147" name="Google Shape;147;p21"/>
          <p:cNvSpPr txBox="1"/>
          <p:nvPr>
            <p:ph idx="1" type="body"/>
          </p:nvPr>
        </p:nvSpPr>
        <p:spPr>
          <a:xfrm>
            <a:off x="729450" y="2037050"/>
            <a:ext cx="45312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filewriter.js gathers all data for drone except data for the beta angle, uses ExtPlane extension</a:t>
            </a:r>
            <a:endParaRPr/>
          </a:p>
          <a:p>
            <a:pPr indent="-311150" lvl="0" marL="457200" rtl="0" algn="l">
              <a:spcBef>
                <a:spcPts val="0"/>
              </a:spcBef>
              <a:spcAft>
                <a:spcPts val="0"/>
              </a:spcAft>
              <a:buSzPts val="1300"/>
              <a:buChar char="●"/>
            </a:pPr>
            <a:r>
              <a:rPr lang="en"/>
              <a:t>Python code calculates power generation by reading data from buffer files</a:t>
            </a:r>
            <a:endParaRPr/>
          </a:p>
        </p:txBody>
      </p:sp>
      <p:pic>
        <p:nvPicPr>
          <p:cNvPr id="148" name="Google Shape;148;p21"/>
          <p:cNvPicPr preferRelativeResize="0"/>
          <p:nvPr/>
        </p:nvPicPr>
        <p:blipFill>
          <a:blip r:embed="rId3">
            <a:alphaModFix/>
          </a:blip>
          <a:stretch>
            <a:fillRect/>
          </a:stretch>
        </p:blipFill>
        <p:spPr>
          <a:xfrm>
            <a:off x="5705700" y="1144825"/>
            <a:ext cx="3252450" cy="2582828"/>
          </a:xfrm>
          <a:prstGeom prst="rect">
            <a:avLst/>
          </a:prstGeom>
          <a:noFill/>
          <a:ln>
            <a:noFill/>
          </a:ln>
        </p:spPr>
      </p:pic>
      <p:sp>
        <p:nvSpPr>
          <p:cNvPr id="149" name="Google Shape;149;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Additional Items </a:t>
            </a:r>
            <a:endParaRPr/>
          </a:p>
        </p:txBody>
      </p:sp>
      <p:sp>
        <p:nvSpPr>
          <p:cNvPr id="155" name="Google Shape;155;p22"/>
          <p:cNvSpPr txBox="1"/>
          <p:nvPr>
            <p:ph idx="1" type="body"/>
          </p:nvPr>
        </p:nvSpPr>
        <p:spPr>
          <a:xfrm>
            <a:off x="928325" y="2078875"/>
            <a:ext cx="5670300" cy="15927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en"/>
              <a:t>Implement Control System</a:t>
            </a:r>
            <a:endParaRPr/>
          </a:p>
          <a:p>
            <a:pPr indent="-311150" lvl="0" marL="457200" rtl="0" algn="l">
              <a:spcBef>
                <a:spcPts val="0"/>
              </a:spcBef>
              <a:spcAft>
                <a:spcPts val="0"/>
              </a:spcAft>
              <a:buSzPts val="1300"/>
              <a:buChar char="●"/>
            </a:pPr>
            <a:r>
              <a:rPr lang="en"/>
              <a:t>Add other parameters to be shown/graphed including the power generation. i.e AVG Potential Power Gen.</a:t>
            </a:r>
            <a:endParaRPr/>
          </a:p>
          <a:p>
            <a:pPr indent="-311150" lvl="0" marL="457200" rtl="0" algn="l">
              <a:spcBef>
                <a:spcPts val="0"/>
              </a:spcBef>
              <a:spcAft>
                <a:spcPts val="0"/>
              </a:spcAft>
              <a:buSzPts val="1300"/>
              <a:buChar char="●"/>
            </a:pPr>
            <a:r>
              <a:rPr lang="en"/>
              <a:t>Ease of using programs</a:t>
            </a:r>
            <a:endParaRPr/>
          </a:p>
          <a:p>
            <a:pPr indent="-311150" lvl="0" marL="457200" rtl="0" algn="l">
              <a:spcBef>
                <a:spcPts val="0"/>
              </a:spcBef>
              <a:spcAft>
                <a:spcPts val="0"/>
              </a:spcAft>
              <a:buSzPts val="1300"/>
              <a:buChar char="●"/>
            </a:pPr>
            <a:r>
              <a:rPr lang="en"/>
              <a:t>General testing of code so it’s error-free</a:t>
            </a:r>
            <a:endParaRPr/>
          </a:p>
          <a:p>
            <a:pPr indent="-311150" lvl="0" marL="457200" rtl="0" algn="l">
              <a:spcBef>
                <a:spcPts val="0"/>
              </a:spcBef>
              <a:spcAft>
                <a:spcPts val="0"/>
              </a:spcAft>
              <a:buSzPts val="1300"/>
              <a:buChar char="●"/>
            </a:pPr>
            <a:r>
              <a:rPr lang="en"/>
              <a:t>Alternate programmed flight paths</a:t>
            </a:r>
            <a:endParaRPr/>
          </a:p>
          <a:p>
            <a:pPr indent="-311150" lvl="0" marL="457200" rtl="0" algn="l">
              <a:spcBef>
                <a:spcPts val="0"/>
              </a:spcBef>
              <a:spcAft>
                <a:spcPts val="0"/>
              </a:spcAft>
              <a:buSzPts val="1300"/>
              <a:buChar char="●"/>
            </a:pPr>
            <a:r>
              <a:rPr lang="en"/>
              <a:t>Additional factors which reduce power generation</a:t>
            </a:r>
            <a:endParaRPr/>
          </a:p>
        </p:txBody>
      </p:sp>
      <p:sp>
        <p:nvSpPr>
          <p:cNvPr id="156" name="Google Shape;156;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57" name="Google Shape;157;p22"/>
          <p:cNvPicPr preferRelativeResize="0"/>
          <p:nvPr/>
        </p:nvPicPr>
        <p:blipFill>
          <a:blip r:embed="rId3">
            <a:alphaModFix/>
          </a:blip>
          <a:stretch>
            <a:fillRect/>
          </a:stretch>
        </p:blipFill>
        <p:spPr>
          <a:xfrm>
            <a:off x="1947449" y="3567999"/>
            <a:ext cx="6027674" cy="1448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Milestones</a:t>
            </a:r>
            <a:endParaRPr/>
          </a:p>
        </p:txBody>
      </p:sp>
      <p:sp>
        <p:nvSpPr>
          <p:cNvPr id="163" name="Google Shape;163;p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Due to finishing the MVP sooner than expected, we have now begun work on adding the </a:t>
            </a:r>
            <a:r>
              <a:rPr lang="en"/>
              <a:t>additional</a:t>
            </a:r>
            <a:r>
              <a:rPr lang="en"/>
              <a:t> items from the previous slide.</a:t>
            </a:r>
            <a:endParaRPr/>
          </a:p>
          <a:p>
            <a:pPr indent="0" lvl="0" marL="0" rtl="0" algn="l">
              <a:spcBef>
                <a:spcPts val="1200"/>
              </a:spcBef>
              <a:spcAft>
                <a:spcPts val="0"/>
              </a:spcAft>
              <a:buNone/>
            </a:pPr>
            <a:r>
              <a:rPr lang="en"/>
              <a:t>The next milestone would be to integrate all of the programs into one so that the software is easier to use and execute</a:t>
            </a:r>
            <a:endParaRPr/>
          </a:p>
          <a:p>
            <a:pPr indent="0" lvl="0" marL="0" rtl="0" algn="l">
              <a:spcBef>
                <a:spcPts val="1200"/>
              </a:spcBef>
              <a:spcAft>
                <a:spcPts val="1200"/>
              </a:spcAft>
              <a:buNone/>
            </a:pPr>
            <a:r>
              <a:rPr lang="en"/>
              <a:t>Afterwards, implementing a control system would be the next step as this would greatly benefit our client in not only finding viable flight paths but also adjusting the path during flight to maximize the </a:t>
            </a:r>
            <a:r>
              <a:rPr lang="en"/>
              <a:t>power generated.</a:t>
            </a:r>
            <a:endParaRPr/>
          </a:p>
        </p:txBody>
      </p:sp>
      <p:sp>
        <p:nvSpPr>
          <p:cNvPr id="164" name="Google Shape;164;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0" name="Google Shape;170;p24"/>
          <p:cNvPicPr preferRelativeResize="0"/>
          <p:nvPr/>
        </p:nvPicPr>
        <p:blipFill>
          <a:blip r:embed="rId3">
            <a:alphaModFix/>
          </a:blip>
          <a:stretch>
            <a:fillRect/>
          </a:stretch>
        </p:blipFill>
        <p:spPr>
          <a:xfrm>
            <a:off x="0" y="-271775"/>
            <a:ext cx="9143998" cy="56870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829800" y="1385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Thank you for listening!</a:t>
            </a:r>
            <a:br>
              <a:rPr lang="en"/>
            </a:br>
            <a:br>
              <a:rPr lang="en"/>
            </a:br>
            <a:r>
              <a:rPr lang="en"/>
              <a:t>Any questions? </a:t>
            </a:r>
            <a:endParaRPr/>
          </a:p>
        </p:txBody>
      </p:sp>
      <p:sp>
        <p:nvSpPr>
          <p:cNvPr id="176" name="Google Shape;176;p2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